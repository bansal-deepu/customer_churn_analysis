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dio Canada" panose="020B0604020202020204" charset="0"/>
      <p:regular r:id="rId13"/>
    </p:embeddedFont>
    <p:embeddedFont>
      <p:font typeface="Radio Canada Big Bold" panose="020B0604020202020204" charset="0"/>
      <p:regular r:id="rId14"/>
    </p:embeddedFont>
    <p:embeddedFont>
      <p:font typeface="Radio Canada Bold" panose="020B0604020202020204" charset="0"/>
      <p:regular r:id="rId15"/>
    </p:embeddedFont>
    <p:embeddedFont>
      <p:font typeface="Radio Canada Medium" panose="020B0604020202020204" charset="0"/>
      <p:regular r:id="rId16"/>
    </p:embeddedFont>
    <p:embeddedFont>
      <p:font typeface="Radio Canada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947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headline: one in four customers left. The next slides show the cost and the path to win them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on the monthly loss, then the churn rate behind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stages from raw data to a tool executives can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dashboard's main panels.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lock-in, no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Fiber leads; Basic leaks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states, half the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Loyalty is not protecting us; support contact and payment habits add targeting clues.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0EE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87" y="1905000"/>
            <a:ext cx="7111822" cy="2226667"/>
          </a:xfrm>
          <a:prstGeom prst="roundRect">
            <a:avLst>
              <a:gd name="adj" fmla="val 8726"/>
            </a:avLst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88978" y="2235200"/>
            <a:ext cx="6349841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One in four customers walked away.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88978" y="3471267"/>
            <a:ext cx="634984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Here is what it cost and how we win them back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Churn quietly drains $364M every month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2628602"/>
            <a:ext cx="5308467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0" b="1" kern="100" spc="-360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$364M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7987" y="4317702"/>
            <a:ext cx="5308467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of $1.40B monthly recurring revenue lost, about $4.37B a year.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273643" y="2747665"/>
            <a:ext cx="5308467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kern="100" spc="-216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26.02%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273643" y="3832225"/>
            <a:ext cx="5308467" cy="1066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churn: 2,60,158 of 10,00,000 customers have left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Churned users paid standard rates, so core paying accounts are leaving.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175720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From raw records to a decision tool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79413" y="2908201"/>
            <a:ext cx="2736682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4" name="Text 2"/>
          <p:cNvSpPr/>
          <p:nvPr/>
        </p:nvSpPr>
        <p:spPr>
          <a:xfrm>
            <a:off x="507987" y="3381375"/>
            <a:ext cx="267963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Python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7987" y="3883620"/>
            <a:ext cx="267963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Pandas, NumPy: clean, trim and standardize; check missing values and duplicates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311442" y="2908201"/>
            <a:ext cx="2736682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3340016" y="3381375"/>
            <a:ext cx="267963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Feature engineering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3340016" y="3883620"/>
            <a:ext cx="2679633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Churn_Flag, Customer_Value, Tenure_Group, Age_Group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43471" y="2908201"/>
            <a:ext cx="2736682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6172046" y="3381375"/>
            <a:ext cx="267963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MS SQL Server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172046" y="3883620"/>
            <a:ext cx="267963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T-SQL queries slicing churn by contract, product, region, support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75500" y="2908201"/>
            <a:ext cx="2736682" cy="101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9004075" y="3381375"/>
            <a:ext cx="2679633" cy="346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100" dirty="0">
                <a:solidFill>
                  <a:srgbClr val="0B2A33"/>
                </a:solidFill>
                <a:latin typeface="Radio Canada Medium" pitchFamily="34" charset="0"/>
                <a:ea typeface="Radio Canada Medium" pitchFamily="34" charset="-122"/>
                <a:cs typeface="Radio Canada Medium" pitchFamily="34" charset="-120"/>
              </a:rPr>
              <a:t>Power BI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04075" y="3883620"/>
            <a:ext cx="2679633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5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Two-page interactive dashboard with a what-if churn slider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1555711" y="2644775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3966" y="2797175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387740" y="2644775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5995" y="2797175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219769" y="2644775"/>
            <a:ext cx="584185" cy="584200"/>
          </a:xfrm>
          <a:prstGeom prst="ellipse">
            <a:avLst/>
          </a:prstGeom>
          <a:solidFill>
            <a:srgbClr val="FFFFFF"/>
          </a:solidFill>
          <a:ln w="50799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28024" y="2797175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10051799" y="2644775"/>
            <a:ext cx="584185" cy="584200"/>
          </a:xfrm>
          <a:prstGeom prst="ellipse">
            <a:avLst/>
          </a:prstGeom>
          <a:solidFill>
            <a:srgbClr val="F56342"/>
          </a:solidFill>
          <a:ln w="50799">
            <a:solidFill>
              <a:srgbClr val="F56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260053" y="2797175"/>
            <a:ext cx="77726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200" b="1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508000"/>
            <a:ext cx="3555911" cy="2084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The executive dashboard puts the loss on one screen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09585" y="4835624"/>
            <a:ext cx="3555911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KPI cards, state revenue comparison, high-risk accounts and a churn-reduction slider, filterable by state, plan, service, contract and payment.</a:t>
            </a:r>
            <a:endParaRPr lang="en-US" sz="17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0288" y="304800"/>
            <a:ext cx="7416614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Month-to-month contracts drive 45% of churn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437184"/>
            <a:ext cx="6724085" cy="477152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89162" y="2656483"/>
            <a:ext cx="3892949" cy="150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Month-to-Month: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1,17,582 churned (45.20%)</a:t>
            </a:r>
            <a:endParaRPr lang="en-US" sz="1700" dirty="0"/>
          </a:p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1-Year: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77,945 (29.96%)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2-Year: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64,631 (24.84%)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7689162" y="4289623"/>
            <a:ext cx="3892949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No lock-in means no cancellation friction.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Fiber and Basic plans leak the most</a:t>
            </a:r>
            <a:endParaRPr lang="en-US" sz="3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1548805"/>
            <a:ext cx="5308467" cy="423961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5874147"/>
            <a:ext cx="5308467" cy="222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300" dirty="0">
                <a:solidFill>
                  <a:srgbClr val="3E5A5F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Churn share by internet service, %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73643" y="2719983"/>
            <a:ext cx="5308467" cy="1379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950"/>
              </a:spcAft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Fiber is 34.93% of churn (90,885), ahead of DSL 25.04%, 5G 20.06%, Cable 19.97%.</a:t>
            </a:r>
            <a:endParaRPr lang="en-US" sz="17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Basic is 41.84% (1,08,851), against Standard 29.95% and Premium 28.21%.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73643" y="4226123"/>
            <a:ext cx="5308467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Premium-priced fiber losing customers suggests line stability or competitor pricing.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1042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Maharashtra and UP account for half the lost revenue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2952353"/>
            <a:ext cx="5537061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Maharashtra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87" y="3251398"/>
            <a:ext cx="5308467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kern="100" spc="-216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$91.29M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7987" y="4335959"/>
            <a:ext cx="553706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lost, 65,158 churned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273643" y="2952353"/>
            <a:ext cx="5308467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kern="100" spc="14" dirty="0">
                <a:solidFill>
                  <a:srgbClr val="0F766E"/>
                </a:solidFill>
                <a:latin typeface="Radio Canada SemiBold" pitchFamily="34" charset="0"/>
                <a:ea typeface="Radio Canada SemiBold" pitchFamily="34" charset="-122"/>
                <a:cs typeface="Radio Canada SemiBold" pitchFamily="34" charset="-120"/>
              </a:rPr>
              <a:t>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73643" y="3251398"/>
            <a:ext cx="5308467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kern="100" spc="-216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$90.94M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273643" y="4335959"/>
            <a:ext cx="5308467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lost, 64,852 churned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07987" y="6050955"/>
            <a:ext cx="11683708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Together about half of the $364.32M monthly loss.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035524" y="2952353"/>
            <a:ext cx="19050" cy="1696641"/>
          </a:xfrm>
          <a:prstGeom prst="rect">
            <a:avLst/>
          </a:prstGeom>
          <a:solidFill>
            <a:srgbClr val="C6DBD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457200"/>
            <a:ext cx="6299042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000" b="1" kern="100" spc="-30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Our longest-standing customers are leaving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7987" y="2845792"/>
            <a:ext cx="6299042" cy="2040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33.40%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churn at 25–48 months (86,903 churned)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33.23%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churn at 49–72 months (86,441 churned)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b="1" dirty="0">
                <a:solidFill>
                  <a:srgbClr val="0B2A33"/>
                </a:solidFill>
                <a:latin typeface="Radio Canada Bold" pitchFamily="34" charset="0"/>
                <a:ea typeface="Radio Canada Bold" pitchFamily="34" charset="-122"/>
                <a:cs typeface="Radio Canada Bold" pitchFamily="34" charset="-120"/>
              </a:rPr>
              <a:t>48.99%</a:t>
            </a: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 of churners contacted tech support, so contact is not retaining them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Char char="•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UPI has the most churn (70,005, 26.91%); adults 30–55 are 55.68% of churners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2" y="304800"/>
            <a:ext cx="4775081" cy="624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Cutting churn just 5% saves $218.59M a year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1840210"/>
            <a:ext cx="11074123" cy="144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12000" b="1" kern="100" spc="-360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$218.59M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507987" y="3529310"/>
            <a:ext cx="11683708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recovered annually with a 5% churn reduction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7987" y="4690170"/>
            <a:ext cx="5308467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kern="100" spc="-216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$364.32M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507987" y="5774730"/>
            <a:ext cx="5537061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baseline loss per month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273643" y="4690170"/>
            <a:ext cx="5308467" cy="868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9000"/>
              </a:lnSpc>
              <a:buNone/>
            </a:pPr>
            <a:r>
              <a:rPr lang="en-US" sz="7200" b="1" kern="100" spc="-216" dirty="0">
                <a:solidFill>
                  <a:srgbClr val="F56342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$18.22M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273643" y="5774730"/>
            <a:ext cx="5308467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recovered monthly; adjustable with the dashboard slider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35524" y="4690170"/>
            <a:ext cx="19050" cy="1710630"/>
          </a:xfrm>
          <a:prstGeom prst="rect">
            <a:avLst/>
          </a:prstGeom>
          <a:solidFill>
            <a:srgbClr val="C6DBD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3195" cy="6858000"/>
          </a:xfrm>
          <a:prstGeom prst="rect">
            <a:avLst/>
          </a:prstGeom>
          <a:solidFill>
            <a:srgbClr val="F56342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11074123" cy="521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800" b="1" kern="100" spc="-38" dirty="0">
                <a:solidFill>
                  <a:srgbClr val="0B2A33"/>
                </a:solidFill>
                <a:latin typeface="Radio Canada Big Bold" pitchFamily="34" charset="0"/>
                <a:ea typeface="Radio Canada Big Bold" pitchFamily="34" charset="-122"/>
                <a:cs typeface="Radio Canada Big Bold" pitchFamily="34" charset="-120"/>
              </a:rPr>
              <a:t>Five moves to keep the customers we have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07987" y="4619724"/>
            <a:ext cx="11074123" cy="17810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Offer 10% off or speed upgrades to move month-to-month customers to annual plans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Audit fiber line quality in Maharashtra and UP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Reward 2-year and 4-year milestones with loyalty perks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Add value features to the Basic tier</a:t>
            </a:r>
            <a:endParaRPr lang="en-US" sz="1700" dirty="0"/>
          </a:p>
          <a:p>
            <a:pPr marL="345440" indent="-3454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700" dirty="0">
                <a:solidFill>
                  <a:srgbClr val="0B2A33"/>
                </a:solidFill>
                <a:latin typeface="Radio Canada" pitchFamily="34" charset="0"/>
                <a:ea typeface="Radio Canada" pitchFamily="34" charset="-122"/>
                <a:cs typeface="Radio Canada" pitchFamily="34" charset="-120"/>
              </a:rPr>
              <a:t>Let support agents offer billing credits and waivers on first contact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Widescreen</PresentationFormat>
  <Paragraphs>77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Radio Canada Bold</vt:lpstr>
      <vt:lpstr>Arial</vt:lpstr>
      <vt:lpstr>Radio Canada Big Bold</vt:lpstr>
      <vt:lpstr>Radio Canada Medium</vt:lpstr>
      <vt:lpstr>Radio Canada</vt:lpstr>
      <vt:lpstr>Radio Canada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Deepanshu Bansal</dc:creator>
  <cp:lastModifiedBy>Deepanshu Bansal</cp:lastModifiedBy>
  <cp:revision>1</cp:revision>
  <dcterms:created xsi:type="dcterms:W3CDTF">2026-10-02T14:42:53Z</dcterms:created>
  <dcterms:modified xsi:type="dcterms:W3CDTF">2026-10-02T14:43:34Z</dcterms:modified>
</cp:coreProperties>
</file>